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8" userDrawn="1">
          <p15:clr>
            <a:srgbClr val="A4A3A4"/>
          </p15:clr>
        </p15:guide>
        <p15:guide id="2" pos="38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28"/>
        <p:guide pos="3832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1532255" y="310515"/>
            <a:ext cx="629920" cy="6215380"/>
          </a:xfrm>
          <a:prstGeom prst="rect">
            <a:avLst/>
          </a:prstGeom>
          <a:solidFill>
            <a:schemeClr val="bg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="eaVert" rtlCol="0" anchor="ctr"/>
          <a:p>
            <a:pPr algn="ctr"/>
            <a:r>
              <a:rPr lang="en-US" altLang="zh-CN" sz="2400">
                <a:solidFill>
                  <a:schemeClr val="accent1"/>
                </a:solidFill>
              </a:rPr>
              <a:t>Nginx</a:t>
            </a:r>
            <a:endParaRPr lang="en-US" altLang="zh-CN" sz="2400">
              <a:solidFill>
                <a:schemeClr val="accent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302510" y="15367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2729865" y="310515"/>
            <a:ext cx="7029450" cy="4593590"/>
          </a:xfrm>
          <a:prstGeom prst="rect">
            <a:avLst/>
          </a:prstGeom>
          <a:solidFill>
            <a:schemeClr val="bg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="eaVert" rtlCol="0" anchor="b" anchorCtr="0"/>
          <a:p>
            <a:pPr algn="ctr"/>
            <a:r>
              <a:rPr lang="en-US" altLang="zh-CN" sz="2400" b="1">
                <a:solidFill>
                  <a:schemeClr val="accent1"/>
                </a:solidFill>
              </a:rPr>
              <a:t>uvicorn</a:t>
            </a:r>
            <a:endParaRPr lang="en-US" altLang="zh-CN" sz="2400" b="1">
              <a:solidFill>
                <a:schemeClr val="accent1"/>
              </a:solidFill>
            </a:endParaRPr>
          </a:p>
        </p:txBody>
      </p:sp>
      <p:sp>
        <p:nvSpPr>
          <p:cNvPr id="8" name="矩形 7"/>
          <p:cNvSpPr/>
          <p:nvPr/>
        </p:nvSpPr>
        <p:spPr>
          <a:xfrm>
            <a:off x="3707765" y="471170"/>
            <a:ext cx="5598795" cy="4107180"/>
          </a:xfrm>
          <a:prstGeom prst="rect">
            <a:avLst/>
          </a:prstGeom>
          <a:solidFill>
            <a:schemeClr val="bg2"/>
          </a:solidFill>
          <a:ln w="28575" cmpd="sng">
            <a:solidFill>
              <a:schemeClr val="accent1">
                <a:shade val="50000"/>
              </a:scheme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b" anchorCtr="0"/>
          <a:p>
            <a:pPr algn="ctr"/>
            <a:r>
              <a:rPr lang="en-US" altLang="zh-CN">
                <a:solidFill>
                  <a:schemeClr val="accent1"/>
                </a:solidFill>
              </a:rPr>
              <a:t>FastAPI</a:t>
            </a:r>
            <a:endParaRPr lang="en-US" altLang="zh-CN">
              <a:solidFill>
                <a:schemeClr val="accent1"/>
              </a:solidFill>
            </a:endParaRPr>
          </a:p>
        </p:txBody>
      </p:sp>
      <p:sp>
        <p:nvSpPr>
          <p:cNvPr id="9" name="矩形 8"/>
          <p:cNvSpPr/>
          <p:nvPr/>
        </p:nvSpPr>
        <p:spPr>
          <a:xfrm>
            <a:off x="2729865" y="5370195"/>
            <a:ext cx="2774315" cy="11563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accent1"/>
                </a:solidFill>
              </a:rPr>
              <a:t>Deepseek</a:t>
            </a:r>
            <a:endParaRPr lang="en-US" altLang="zh-CN">
              <a:solidFill>
                <a:schemeClr val="accent1"/>
              </a:solidFill>
            </a:endParaRPr>
          </a:p>
          <a:p>
            <a:pPr algn="ctr"/>
            <a:r>
              <a:rPr lang="en-US" altLang="zh-CN">
                <a:solidFill>
                  <a:schemeClr val="accent1"/>
                </a:solidFill>
              </a:rPr>
              <a:t>qw-image-plus</a:t>
            </a:r>
            <a:endParaRPr lang="en-US" altLang="zh-CN">
              <a:solidFill>
                <a:schemeClr val="accent1"/>
              </a:solidFill>
            </a:endParaRPr>
          </a:p>
          <a:p>
            <a:pPr algn="ctr"/>
            <a:r>
              <a:rPr lang="en-US" altLang="zh-CN">
                <a:solidFill>
                  <a:schemeClr val="accent1"/>
                </a:solidFill>
              </a:rPr>
              <a:t>qw-image-edit</a:t>
            </a:r>
            <a:endParaRPr lang="en-US" altLang="zh-CN">
              <a:solidFill>
                <a:schemeClr val="accent1"/>
              </a:solidFill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770245" y="5370195"/>
            <a:ext cx="2447925" cy="11563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accent1"/>
                </a:solidFill>
              </a:rPr>
              <a:t>高德</a:t>
            </a:r>
            <a:endParaRPr lang="zh-CN" altLang="en-US">
              <a:solidFill>
                <a:schemeClr val="accent1"/>
              </a:solidFill>
            </a:endParaRPr>
          </a:p>
          <a:p>
            <a:pPr algn="ctr"/>
            <a:r>
              <a:rPr lang="en-US" altLang="zh-CN">
                <a:solidFill>
                  <a:schemeClr val="accent1"/>
                </a:solidFill>
              </a:rPr>
              <a:t>Nominatim</a:t>
            </a:r>
            <a:endParaRPr lang="en-US" altLang="zh-CN">
              <a:solidFill>
                <a:schemeClr val="accent1"/>
              </a:solidFill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8484235" y="5370195"/>
            <a:ext cx="1275715" cy="11563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accent1"/>
                </a:solidFill>
              </a:rPr>
              <a:t>mysql8.0</a:t>
            </a:r>
            <a:endParaRPr lang="en-US" altLang="zh-CN">
              <a:solidFill>
                <a:schemeClr val="accent1"/>
              </a:solidFill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902710" y="3229610"/>
            <a:ext cx="2855595" cy="608330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accent1"/>
                </a:solidFill>
              </a:rPr>
              <a:t>aiomysql</a:t>
            </a:r>
            <a:endParaRPr lang="en-US" altLang="zh-CN">
              <a:solidFill>
                <a:schemeClr val="accent1"/>
              </a:solidFill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902710" y="1211580"/>
            <a:ext cx="710565" cy="16230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="eaVert" rtlCol="0" anchor="ctr"/>
          <a:p>
            <a:pPr algn="ctr"/>
            <a:r>
              <a:rPr lang="zh-CN" altLang="en-US">
                <a:solidFill>
                  <a:schemeClr val="bg1"/>
                </a:solidFill>
              </a:rPr>
              <a:t>路由注册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5073650" y="1211580"/>
            <a:ext cx="1684655" cy="16230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="horz" rtlCol="0" anchor="ctr"/>
          <a:p>
            <a:pPr algn="ctr"/>
            <a:r>
              <a:rPr lang="zh-CN" altLang="en-US">
                <a:solidFill>
                  <a:schemeClr val="bg1"/>
                </a:solidFill>
              </a:rPr>
              <a:t>图像智能应用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7005955" y="1211580"/>
            <a:ext cx="1684655" cy="16230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="horz" rtlCol="0" anchor="ctr"/>
          <a:p>
            <a:pPr algn="ctr"/>
            <a:r>
              <a:rPr lang="zh-CN" altLang="en-US">
                <a:solidFill>
                  <a:schemeClr val="bg1"/>
                </a:solidFill>
              </a:rPr>
              <a:t>位置查询服务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0534015" y="228600"/>
            <a:ext cx="629920" cy="6297930"/>
          </a:xfrm>
          <a:prstGeom prst="rect">
            <a:avLst/>
          </a:prstGeom>
          <a:solidFill>
            <a:schemeClr val="bg2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="eaVert" rtlCol="0" anchor="ctr"/>
          <a:p>
            <a:pPr algn="ctr"/>
            <a:r>
              <a:rPr lang="zh-CN" altLang="en-US" sz="2400">
                <a:solidFill>
                  <a:schemeClr val="accent1"/>
                </a:solidFill>
              </a:rPr>
              <a:t>管理</a:t>
            </a:r>
            <a:r>
              <a:rPr lang="zh-CN" altLang="en-US" sz="2400">
                <a:solidFill>
                  <a:schemeClr val="accent1"/>
                </a:solidFill>
              </a:rPr>
              <a:t>后台</a:t>
            </a:r>
            <a:endParaRPr lang="zh-CN" altLang="en-US" sz="2400">
              <a:solidFill>
                <a:schemeClr val="accent1"/>
              </a:solidFill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7005955" y="3229610"/>
            <a:ext cx="1684655" cy="608330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accent1"/>
                </a:solidFill>
              </a:rPr>
              <a:t>httpx</a:t>
            </a:r>
            <a:endParaRPr lang="en-US" altLang="zh-CN">
              <a:solidFill>
                <a:schemeClr val="accent1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37185" y="471170"/>
            <a:ext cx="795655" cy="5469890"/>
          </a:xfrm>
          <a:prstGeom prst="rect">
            <a:avLst/>
          </a:prstGeom>
          <a:noFill/>
        </p:spPr>
        <p:txBody>
          <a:bodyPr vert="eaVert" wrap="square" rtlCol="0">
            <a:noAutofit/>
          </a:bodyPr>
          <a:p>
            <a:pPr algn="ctr"/>
            <a:r>
              <a:rPr lang="zh-CN" altLang="en-US" sz="2800" b="1"/>
              <a:t>芯图相册</a:t>
            </a:r>
            <a:r>
              <a:rPr lang="en-US" altLang="zh-CN" sz="2800" b="1"/>
              <a:t>V2</a:t>
            </a:r>
            <a:r>
              <a:rPr lang="zh-CN" altLang="en-US" sz="2800" b="1"/>
              <a:t>接口，后端技术架构</a:t>
            </a:r>
            <a:endParaRPr lang="zh-CN" altLang="en-US" sz="2800" b="1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矩形 22"/>
          <p:cNvSpPr/>
          <p:nvPr/>
        </p:nvSpPr>
        <p:spPr>
          <a:xfrm>
            <a:off x="1547495" y="3847465"/>
            <a:ext cx="8819515" cy="126301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="eaVert" rtlCol="0" anchor="b" anchorCtr="0"/>
          <a:p>
            <a:pPr algn="ctr"/>
            <a:r>
              <a:rPr lang="zh-CN" altLang="en-US" sz="2000">
                <a:solidFill>
                  <a:schemeClr val="accent1"/>
                </a:solidFill>
              </a:rPr>
              <a:t>基础</a:t>
            </a:r>
            <a:r>
              <a:rPr lang="zh-CN" altLang="en-US" sz="2000">
                <a:solidFill>
                  <a:schemeClr val="accent1"/>
                </a:solidFill>
              </a:rPr>
              <a:t>服务</a:t>
            </a:r>
            <a:endParaRPr lang="zh-CN" altLang="en-US" sz="2000">
              <a:solidFill>
                <a:schemeClr val="accent1"/>
              </a:solidFill>
            </a:endParaRPr>
          </a:p>
        </p:txBody>
      </p:sp>
      <p:sp>
        <p:nvSpPr>
          <p:cNvPr id="5" name="矩形 4"/>
          <p:cNvSpPr/>
          <p:nvPr/>
        </p:nvSpPr>
        <p:spPr>
          <a:xfrm>
            <a:off x="1547495" y="725805"/>
            <a:ext cx="8819515" cy="126301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="eaVert" rtlCol="0" anchor="b" anchorCtr="0"/>
          <a:p>
            <a:pPr algn="ctr"/>
            <a:r>
              <a:rPr lang="zh-CN" altLang="en-US" sz="2000">
                <a:solidFill>
                  <a:schemeClr val="accent1"/>
                </a:solidFill>
              </a:rPr>
              <a:t>路由层</a:t>
            </a:r>
            <a:endParaRPr lang="zh-CN" altLang="en-US" sz="2000">
              <a:solidFill>
                <a:schemeClr val="accent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2803525" y="1057593"/>
            <a:ext cx="1209675" cy="599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场景分类</a:t>
            </a:r>
            <a:r>
              <a:rPr lang="zh-CN" altLang="en-US"/>
              <a:t>接口</a:t>
            </a:r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5478145" y="1057593"/>
            <a:ext cx="1209675" cy="599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图像编辑</a:t>
            </a:r>
            <a:r>
              <a:rPr lang="zh-CN" altLang="en-US"/>
              <a:t>接口</a:t>
            </a:r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156710" y="1057593"/>
            <a:ext cx="1209675" cy="599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颜色分类</a:t>
            </a:r>
            <a:r>
              <a:rPr lang="zh-CN" altLang="en-US"/>
              <a:t>接口</a:t>
            </a:r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6799580" y="1057593"/>
            <a:ext cx="1209675" cy="599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面相分析</a:t>
            </a:r>
            <a:r>
              <a:rPr lang="zh-CN" altLang="en-US"/>
              <a:t>接口</a:t>
            </a:r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8152765" y="1057593"/>
            <a:ext cx="1209675" cy="599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构图分析</a:t>
            </a:r>
            <a:r>
              <a:rPr lang="zh-CN" altLang="en-US"/>
              <a:t>接口</a:t>
            </a:r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9505950" y="1057593"/>
            <a:ext cx="642620" cy="599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...</a:t>
            </a:r>
            <a:endParaRPr lang="en-US" altLang="zh-CN"/>
          </a:p>
        </p:txBody>
      </p:sp>
      <p:sp>
        <p:nvSpPr>
          <p:cNvPr id="12" name="矩形 11"/>
          <p:cNvSpPr/>
          <p:nvPr/>
        </p:nvSpPr>
        <p:spPr>
          <a:xfrm>
            <a:off x="1547495" y="2286635"/>
            <a:ext cx="8819515" cy="126301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="eaVert" rtlCol="0" anchor="b" anchorCtr="0"/>
          <a:p>
            <a:pPr algn="ctr"/>
            <a:r>
              <a:rPr lang="zh-CN" altLang="en-US" sz="2000">
                <a:solidFill>
                  <a:schemeClr val="accent1"/>
                </a:solidFill>
              </a:rPr>
              <a:t>业务层</a:t>
            </a:r>
            <a:endParaRPr lang="zh-CN" altLang="en-US" sz="2000">
              <a:solidFill>
                <a:schemeClr val="accent1"/>
              </a:solidFill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803525" y="2618423"/>
            <a:ext cx="1209675" cy="599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场景</a:t>
            </a:r>
            <a:r>
              <a:rPr lang="zh-CN" altLang="en-US"/>
              <a:t>分类</a:t>
            </a:r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5478145" y="2618423"/>
            <a:ext cx="1209675" cy="599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图像</a:t>
            </a:r>
            <a:r>
              <a:rPr lang="zh-CN" altLang="en-US"/>
              <a:t>编辑</a:t>
            </a:r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>
            <a:off x="4156710" y="2618423"/>
            <a:ext cx="1209675" cy="599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颜色</a:t>
            </a:r>
            <a:r>
              <a:rPr lang="zh-CN" altLang="en-US"/>
              <a:t>分类</a:t>
            </a:r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6799580" y="2618423"/>
            <a:ext cx="1209675" cy="599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面相</a:t>
            </a:r>
            <a:r>
              <a:rPr lang="zh-CN" altLang="en-US"/>
              <a:t>分析</a:t>
            </a:r>
            <a:endParaRPr lang="zh-CN" altLang="en-US"/>
          </a:p>
        </p:txBody>
      </p:sp>
      <p:sp>
        <p:nvSpPr>
          <p:cNvPr id="17" name="矩形 16"/>
          <p:cNvSpPr/>
          <p:nvPr/>
        </p:nvSpPr>
        <p:spPr>
          <a:xfrm>
            <a:off x="8152765" y="2618423"/>
            <a:ext cx="1209675" cy="599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构图</a:t>
            </a:r>
            <a:r>
              <a:rPr lang="zh-CN" altLang="en-US"/>
              <a:t>分析</a:t>
            </a:r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9505950" y="2618423"/>
            <a:ext cx="642620" cy="599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...</a:t>
            </a:r>
            <a:endParaRPr lang="en-US" altLang="zh-CN"/>
          </a:p>
        </p:txBody>
      </p:sp>
      <p:sp>
        <p:nvSpPr>
          <p:cNvPr id="19" name="矩形 18"/>
          <p:cNvSpPr/>
          <p:nvPr/>
        </p:nvSpPr>
        <p:spPr>
          <a:xfrm>
            <a:off x="2803525" y="4008120"/>
            <a:ext cx="2160000" cy="9417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LLM Provider</a:t>
            </a:r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5396595" y="4008120"/>
            <a:ext cx="2159635" cy="9417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提示词管理</a:t>
            </a:r>
            <a:endParaRPr lang="zh-CN" altLang="en-US"/>
          </a:p>
        </p:txBody>
      </p:sp>
      <p:sp>
        <p:nvSpPr>
          <p:cNvPr id="22" name="矩形 21"/>
          <p:cNvSpPr/>
          <p:nvPr/>
        </p:nvSpPr>
        <p:spPr>
          <a:xfrm>
            <a:off x="7989300" y="4008120"/>
            <a:ext cx="2159635" cy="9417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通用模型</a:t>
            </a:r>
            <a:r>
              <a:rPr lang="zh-CN" altLang="en-US"/>
              <a:t>缓存</a:t>
            </a:r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1547495" y="5408295"/>
            <a:ext cx="8819515" cy="126301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="eaVert" rtlCol="0" anchor="b" anchorCtr="0"/>
          <a:p>
            <a:pPr algn="ctr"/>
            <a:r>
              <a:rPr lang="zh-CN" altLang="en-US" sz="2000">
                <a:solidFill>
                  <a:schemeClr val="accent1"/>
                </a:solidFill>
              </a:rPr>
              <a:t>接口</a:t>
            </a:r>
            <a:r>
              <a:rPr lang="zh-CN" altLang="en-US" sz="2000">
                <a:solidFill>
                  <a:schemeClr val="accent1"/>
                </a:solidFill>
              </a:rPr>
              <a:t>层</a:t>
            </a:r>
            <a:endParaRPr lang="zh-CN" altLang="en-US" sz="2000">
              <a:solidFill>
                <a:schemeClr val="accent1"/>
              </a:solidFill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2803525" y="5568950"/>
            <a:ext cx="2160000" cy="9417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LLM Base</a:t>
            </a:r>
            <a:endParaRPr lang="en-US" altLang="zh-CN"/>
          </a:p>
        </p:txBody>
      </p:sp>
      <p:sp>
        <p:nvSpPr>
          <p:cNvPr id="26" name="矩形 25"/>
          <p:cNvSpPr/>
          <p:nvPr/>
        </p:nvSpPr>
        <p:spPr>
          <a:xfrm>
            <a:off x="5396230" y="5568950"/>
            <a:ext cx="2160000" cy="9417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DB</a:t>
            </a:r>
            <a:r>
              <a:rPr lang="zh-CN" altLang="en-US"/>
              <a:t>读写</a:t>
            </a:r>
            <a:r>
              <a:rPr lang="zh-CN" altLang="en-US"/>
              <a:t>服务</a:t>
            </a:r>
            <a:endParaRPr lang="zh-CN" altLang="en-US"/>
          </a:p>
        </p:txBody>
      </p:sp>
      <p:sp>
        <p:nvSpPr>
          <p:cNvPr id="27" name="矩形 26"/>
          <p:cNvSpPr/>
          <p:nvPr/>
        </p:nvSpPr>
        <p:spPr>
          <a:xfrm>
            <a:off x="7988935" y="5568950"/>
            <a:ext cx="2160000" cy="9417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逆地址编码</a:t>
            </a:r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29" name="文本框 28"/>
          <p:cNvSpPr txBox="1"/>
          <p:nvPr/>
        </p:nvSpPr>
        <p:spPr>
          <a:xfrm>
            <a:off x="337185" y="471170"/>
            <a:ext cx="795655" cy="5469890"/>
          </a:xfrm>
          <a:prstGeom prst="rect">
            <a:avLst/>
          </a:prstGeom>
          <a:noFill/>
        </p:spPr>
        <p:txBody>
          <a:bodyPr vert="eaVert" wrap="square" rtlCol="0">
            <a:noAutofit/>
          </a:bodyPr>
          <a:p>
            <a:pPr algn="ctr"/>
            <a:r>
              <a:rPr lang="zh-CN" altLang="en-US" sz="2800" b="1"/>
              <a:t>图像智能应用，分层技术</a:t>
            </a:r>
            <a:r>
              <a:rPr lang="zh-CN" altLang="en-US" sz="2800" b="1"/>
              <a:t>架构</a:t>
            </a:r>
            <a:endParaRPr lang="zh-CN" altLang="en-US" sz="2800" b="1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246</Words>
  <Application>WPS 演示</Application>
  <PresentationFormat>宽屏</PresentationFormat>
  <Paragraphs>75</Paragraphs>
  <Slides>3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1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夏文勇</cp:lastModifiedBy>
  <cp:revision>158</cp:revision>
  <dcterms:created xsi:type="dcterms:W3CDTF">2019-06-19T02:08:00Z</dcterms:created>
  <dcterms:modified xsi:type="dcterms:W3CDTF">2026-01-06T09:39:01Z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BC7C94A43B0147F1BBF44141AA8D755A_11</vt:lpwstr>
  </property>
</Properties>
</file>